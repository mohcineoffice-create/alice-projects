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Je vais vous présenter mon projet de fin d’études : un parking intelligent à barrière automatique, réalisé avec une carte Arduino Uno. Je commencerai par le problème, puis la solution, la réalisation et les résultats. (Complétez les champs vides de cette diapositive avant la soutenance.)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Expliquez le problème avec un exemple concret : un conducteur arrive devant un petit parking et ne sait pas s’il reste de la place. Insistez sur le gain : informer le conducteur et contrôler l’accès avec un système peu coûteux.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Présentez les cinq objectifs. Précisez que la capacité du parking (4 places) est un paramètre modifiable dans 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Décrivez le schéma bloc de gauche à droite : deux capteurs et l’alimentation vers l’Arduino, puis les sorties : servomoteur, écran, LED, buzzer. L’Arduino est le cerveau qui décide.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Passez en revue les composants et leur rôle. Rappelez que les prix sont indicatifs (environ 250 à 400 MAD au total) : vérifiez-les auprès de votre fournisseur avant de les annoncer.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Montrez le schéma de câblage. Capteurs : D2 à D5. Servomoteur : D6. LED : D7 et D8. Buzzer : D13. Écran : A0 à A5. Masse commune à tous les composants.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Expliquez les étapes : mesure toutes les 100 ms, confirmation sur trois mesures, verrou anti-double comptage, ouverture de la barrière, fermeture temporisée après 2 secondes lorsque les deux zones sont dégagées.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Insistez sur la logique non bloquante avec millis() et sur le filtre de confirmation. Mentionnez l’occupation mémoire : environ 19 % de la mémoire flash.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Soyez précis sur ce que vous avez vous-même testé. Ci-dessous, la diapositive annonce les essais prévus : remplacez-les par vos propres mesures avant la soutenance. N’annoncez aucun résultat que vous n’avez pas obtenu.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Présentez les limites avec honnêteté, puis les améliorations : EEPROM, ESP32 avec affichage web, compensation de température, RFID.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Résumez en une phrase : le prototype répond au cahier des charges. Remerciez le jury et l’encadrant, puis invitez les questions. Préparez-vous avec le guide de soutenance (questions et réponses).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548640" y="365760"/>
            <a:ext cx="4572000" cy="457200"/>
          </a:xfrm>
          <a:prstGeom prst="rect">
            <a:avLst/>
          </a:prstGeom>
          <a:noFill/>
          <a:ln/>
        </p:spPr>
        <p:txBody>
          <a:bodyPr wrap="square" lIns="0" tIns="0" rIns="0" bIns="0" rtlCol="0" anchor="ctr"/>
          <a:lstStyle/>
          <a:p>
            <a:pPr indent="0" marL="0">
              <a:buNone/>
            </a:pPr>
            <a:r>
              <a:rPr lang="en-US" sz="2000" b="1" dirty="0">
                <a:solidFill>
                  <a:srgbClr val="00B4D8"/>
                </a:solidFill>
                <a:latin typeface="Calibri" pitchFamily="34" charset="0"/>
                <a:ea typeface="Calibri" pitchFamily="34" charset="-122"/>
                <a:cs typeface="Calibri" pitchFamily="34" charset="-120"/>
              </a:rPr>
              <a:t>XLab IC</a:t>
            </a:r>
            <a:endParaRPr lang="en-US" sz="2000" dirty="0"/>
          </a:p>
        </p:txBody>
      </p:sp>
      <p:sp>
        <p:nvSpPr>
          <p:cNvPr id="3" name="Text 1"/>
          <p:cNvSpPr txBox="1"/>
          <p:nvPr/>
        </p:nvSpPr>
        <p:spPr>
          <a:xfrm>
            <a:off x="548640" y="1097280"/>
            <a:ext cx="8046720" cy="164592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Parking intelligent</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à barrière automatique</a:t>
            </a:r>
            <a:endParaRPr lang="en-US" sz="4000" dirty="0"/>
          </a:p>
        </p:txBody>
      </p:sp>
      <p:sp>
        <p:nvSpPr>
          <p:cNvPr id="4" name="Text 2"/>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2000" dirty="0">
                <a:solidFill>
                  <a:srgbClr val="00B4D8"/>
                </a:solidFill>
                <a:latin typeface="Calibri" pitchFamily="34" charset="0"/>
                <a:ea typeface="Calibri" pitchFamily="34" charset="-122"/>
                <a:cs typeface="Calibri" pitchFamily="34" charset="-120"/>
              </a:rPr>
              <a:t>Projet de fin d’études — soutenance</a:t>
            </a:r>
            <a:endParaRPr lang="en-US" sz="2000" dirty="0"/>
          </a:p>
        </p:txBody>
      </p:sp>
      <p:sp>
        <p:nvSpPr>
          <p:cNvPr id="5" name="Text 3"/>
          <p:cNvSpPr txBox="1"/>
          <p:nvPr/>
        </p:nvSpPr>
        <p:spPr>
          <a:xfrm>
            <a:off x="548640" y="3657600"/>
            <a:ext cx="8046720" cy="822960"/>
          </a:xfrm>
          <a:prstGeom prst="rect">
            <a:avLst/>
          </a:prstGeom>
          <a:noFill/>
          <a:ln/>
        </p:spPr>
        <p:txBody>
          <a:bodyPr wrap="square" lIns="0" tIns="0" rIns="0" bIns="0" rtlCol="0" anchor="ctr"/>
          <a:lstStyle/>
          <a:p>
            <a:pPr indent="0" marL="0">
              <a:buNone/>
            </a:pPr>
            <a:r>
              <a:rPr lang="en-US" sz="1400" dirty="0">
                <a:solidFill>
                  <a:srgbClr val="C9D6E3"/>
                </a:solidFill>
                <a:latin typeface="Calibri" pitchFamily="34" charset="0"/>
                <a:ea typeface="Calibri" pitchFamily="34" charset="-122"/>
                <a:cs typeface="Calibri" pitchFamily="34" charset="-120"/>
              </a:rPr>
              <a:t>Étudiant(e) : ____________________     Encadrant(e) : ____________________</a:t>
            </a:r>
            <a:endParaRPr lang="en-US" sz="1400" dirty="0"/>
          </a:p>
          <a:p>
            <a:pPr indent="0" marL="0">
              <a:buNone/>
            </a:pPr>
            <a:r>
              <a:rPr lang="en-US" sz="1400" dirty="0">
                <a:solidFill>
                  <a:srgbClr val="C9D6E3"/>
                </a:solidFill>
                <a:latin typeface="Calibri" pitchFamily="34" charset="0"/>
                <a:ea typeface="Calibri" pitchFamily="34" charset="-122"/>
                <a:cs typeface="Calibri" pitchFamily="34" charset="-120"/>
              </a:rPr>
              <a:t>Établissement : ____________________     Année : __________</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F3A"/>
          </a:solidFill>
          <a:ln w="12700">
            <a:solidFill>
              <a:srgbClr val="0B1F3A"/>
            </a:solidFill>
            <a:prstDash val="solid"/>
          </a:ln>
        </p:spPr>
      </p:sp>
      <p:sp>
        <p:nvSpPr>
          <p:cNvPr id="3" name="Text 1"/>
          <p:cNvSpPr txBox="1"/>
          <p:nvPr/>
        </p:nvSpPr>
        <p:spPr>
          <a:xfrm>
            <a:off x="457200" y="91440"/>
            <a:ext cx="768096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Le problème</a:t>
            </a:r>
            <a:endParaRPr lang="en-US" sz="2400" dirty="0"/>
          </a:p>
        </p:txBody>
      </p:sp>
      <p:sp>
        <p:nvSpPr>
          <p:cNvPr id="4" name="Text 2"/>
          <p:cNvSpPr txBox="1"/>
          <p:nvPr/>
        </p:nvSpPr>
        <p:spPr>
          <a:xfrm>
            <a:off x="7955280" y="91440"/>
            <a:ext cx="914400" cy="640080"/>
          </a:xfrm>
          <a:prstGeom prst="rect">
            <a:avLst/>
          </a:prstGeom>
          <a:noFill/>
          <a:ln/>
        </p:spPr>
        <p:txBody>
          <a:bodyPr wrap="square" lIns="0" tIns="0" rIns="0" bIns="0" rtlCol="0" anchor="ctr"/>
          <a:lstStyle/>
          <a:p>
            <a:pPr algn="r" indent="0" marL="0">
              <a:buNone/>
            </a:pPr>
            <a:r>
              <a:rPr lang="en-US" sz="1200" b="1" dirty="0">
                <a:solidFill>
                  <a:srgbClr val="00B4D8"/>
                </a:solidFill>
                <a:latin typeface="Calibri" pitchFamily="34" charset="0"/>
                <a:ea typeface="Calibri" pitchFamily="34" charset="-122"/>
                <a:cs typeface="Calibri" pitchFamily="34" charset="-120"/>
              </a:rPr>
              <a:t>XLab IC</a:t>
            </a:r>
            <a:endParaRPr lang="en-US" sz="1200" dirty="0"/>
          </a:p>
        </p:txBody>
      </p:sp>
      <p:sp>
        <p:nvSpPr>
          <p:cNvPr id="5" name="Text 3"/>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2</a:t>
            </a:r>
            <a:endParaRPr lang="en-US" sz="1000" dirty="0"/>
          </a:p>
        </p:txBody>
      </p:sp>
      <p:sp>
        <p:nvSpPr>
          <p:cNvPr id="7" name="Text 4"/>
          <p:cNvSpPr txBox="1"/>
          <p:nvPr/>
        </p:nvSpPr>
        <p:spPr>
          <a:xfrm>
            <a:off x="548640" y="1143000"/>
            <a:ext cx="8046720" cy="347472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Petits parkings : accès non contrôlé ou géré à la main</a:t>
            </a:r>
            <a:endParaRPr lang="en-US" sz="2200" dirty="0"/>
          </a:p>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Le conducteur ignore le nombre de places libres</a:t>
            </a:r>
            <a:endParaRPr lang="en-US" sz="2200" dirty="0"/>
          </a:p>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Attentes, manœuvres inutiles, encombrement à l’entrée</a:t>
            </a:r>
            <a:endParaRPr lang="en-US" sz="2200" dirty="0"/>
          </a:p>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Besoin : un système automatique, simple et peu coûteux</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F3A"/>
          </a:solidFill>
          <a:ln w="12700">
            <a:solidFill>
              <a:srgbClr val="0B1F3A"/>
            </a:solidFill>
            <a:prstDash val="solid"/>
          </a:ln>
        </p:spPr>
      </p:sp>
      <p:sp>
        <p:nvSpPr>
          <p:cNvPr id="3" name="Text 1"/>
          <p:cNvSpPr txBox="1"/>
          <p:nvPr/>
        </p:nvSpPr>
        <p:spPr>
          <a:xfrm>
            <a:off x="457200" y="91440"/>
            <a:ext cx="768096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Objectifs du projet</a:t>
            </a:r>
            <a:endParaRPr lang="en-US" sz="2400" dirty="0"/>
          </a:p>
        </p:txBody>
      </p:sp>
      <p:sp>
        <p:nvSpPr>
          <p:cNvPr id="4" name="Text 2"/>
          <p:cNvSpPr txBox="1"/>
          <p:nvPr/>
        </p:nvSpPr>
        <p:spPr>
          <a:xfrm>
            <a:off x="7955280" y="91440"/>
            <a:ext cx="914400" cy="640080"/>
          </a:xfrm>
          <a:prstGeom prst="rect">
            <a:avLst/>
          </a:prstGeom>
          <a:noFill/>
          <a:ln/>
        </p:spPr>
        <p:txBody>
          <a:bodyPr wrap="square" lIns="0" tIns="0" rIns="0" bIns="0" rtlCol="0" anchor="ctr"/>
          <a:lstStyle/>
          <a:p>
            <a:pPr algn="r" indent="0" marL="0">
              <a:buNone/>
            </a:pPr>
            <a:r>
              <a:rPr lang="en-US" sz="1200" b="1" dirty="0">
                <a:solidFill>
                  <a:srgbClr val="00B4D8"/>
                </a:solidFill>
                <a:latin typeface="Calibri" pitchFamily="34" charset="0"/>
                <a:ea typeface="Calibri" pitchFamily="34" charset="-122"/>
                <a:cs typeface="Calibri" pitchFamily="34" charset="-120"/>
              </a:rPr>
              <a:t>XLab IC</a:t>
            </a:r>
            <a:endParaRPr lang="en-US" sz="1200" dirty="0"/>
          </a:p>
        </p:txBody>
      </p:sp>
      <p:sp>
        <p:nvSpPr>
          <p:cNvPr id="5" name="Text 3"/>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3</a:t>
            </a:r>
            <a:endParaRPr lang="en-US" sz="1000" dirty="0"/>
          </a:p>
        </p:txBody>
      </p:sp>
      <p:sp>
        <p:nvSpPr>
          <p:cNvPr id="7" name="Text 4"/>
          <p:cNvSpPr txBox="1"/>
          <p:nvPr/>
        </p:nvSpPr>
        <p:spPr>
          <a:xfrm>
            <a:off x="548640" y="1143000"/>
            <a:ext cx="8046720" cy="347472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Détecter les véhicules à l’entrée et à la sortie (ultrasons)</a:t>
            </a:r>
            <a:endParaRPr lang="en-US" sz="2200" dirty="0"/>
          </a:p>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Compter automatiquement les places libres (4 par défaut)</a:t>
            </a:r>
            <a:endParaRPr lang="en-US" sz="2200" dirty="0"/>
          </a:p>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Ouvrir et fermer une barrière par servomoteur</a:t>
            </a:r>
            <a:endParaRPr lang="en-US" sz="2200" dirty="0"/>
          </a:p>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Afficher l’état sur un écran LCD, LED verte / rouge</a:t>
            </a:r>
            <a:endParaRPr lang="en-US" sz="2200" dirty="0"/>
          </a:p>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Alerter par buzzer ; valider par simulation</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F3A"/>
          </a:solidFill>
          <a:ln w="12700">
            <a:solidFill>
              <a:srgbClr val="0B1F3A"/>
            </a:solidFill>
            <a:prstDash val="solid"/>
          </a:ln>
        </p:spPr>
      </p:sp>
      <p:sp>
        <p:nvSpPr>
          <p:cNvPr id="3" name="Text 1"/>
          <p:cNvSpPr txBox="1"/>
          <p:nvPr/>
        </p:nvSpPr>
        <p:spPr>
          <a:xfrm>
            <a:off x="457200" y="91440"/>
            <a:ext cx="768096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Architecture du système</a:t>
            </a:r>
            <a:endParaRPr lang="en-US" sz="2400" dirty="0"/>
          </a:p>
        </p:txBody>
      </p:sp>
      <p:sp>
        <p:nvSpPr>
          <p:cNvPr id="4" name="Text 2"/>
          <p:cNvSpPr txBox="1"/>
          <p:nvPr/>
        </p:nvSpPr>
        <p:spPr>
          <a:xfrm>
            <a:off x="7955280" y="91440"/>
            <a:ext cx="914400" cy="640080"/>
          </a:xfrm>
          <a:prstGeom prst="rect">
            <a:avLst/>
          </a:prstGeom>
          <a:noFill/>
          <a:ln/>
        </p:spPr>
        <p:txBody>
          <a:bodyPr wrap="square" lIns="0" tIns="0" rIns="0" bIns="0" rtlCol="0" anchor="ctr"/>
          <a:lstStyle/>
          <a:p>
            <a:pPr algn="r" indent="0" marL="0">
              <a:buNone/>
            </a:pPr>
            <a:r>
              <a:rPr lang="en-US" sz="1200" b="1" dirty="0">
                <a:solidFill>
                  <a:srgbClr val="00B4D8"/>
                </a:solidFill>
                <a:latin typeface="Calibri" pitchFamily="34" charset="0"/>
                <a:ea typeface="Calibri" pitchFamily="34" charset="-122"/>
                <a:cs typeface="Calibri" pitchFamily="34" charset="-120"/>
              </a:rPr>
              <a:t>XLab IC</a:t>
            </a:r>
            <a:endParaRPr lang="en-US" sz="1200" dirty="0"/>
          </a:p>
        </p:txBody>
      </p:sp>
      <p:sp>
        <p:nvSpPr>
          <p:cNvPr id="5" name="Text 3"/>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4</a:t>
            </a:r>
            <a:endParaRPr lang="en-US" sz="1000" dirty="0"/>
          </a:p>
        </p:txBody>
      </p:sp>
      <p:pic>
        <p:nvPicPr>
          <p:cNvPr id="7" name="Image 0" descr="Schéma bloc du système">    </p:cNvPr>
          <p:cNvPicPr>
            <a:picLocks noChangeAspect="1"/>
          </p:cNvPicPr>
          <p:nvPr/>
        </p:nvPicPr>
        <p:blipFill>
          <a:blip r:embed="rId1"/>
          <a:stretch>
            <a:fillRect/>
          </a:stretch>
        </p:blipFill>
        <p:spPr>
          <a:xfrm>
            <a:off x="2151040" y="1005840"/>
            <a:ext cx="4841920" cy="35661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F3A"/>
          </a:solidFill>
          <a:ln w="12700">
            <a:solidFill>
              <a:srgbClr val="0B1F3A"/>
            </a:solidFill>
            <a:prstDash val="solid"/>
          </a:ln>
        </p:spPr>
      </p:sp>
      <p:sp>
        <p:nvSpPr>
          <p:cNvPr id="3" name="Text 1"/>
          <p:cNvSpPr txBox="1"/>
          <p:nvPr/>
        </p:nvSpPr>
        <p:spPr>
          <a:xfrm>
            <a:off x="457200" y="91440"/>
            <a:ext cx="768096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Composants et coût indicatif</a:t>
            </a:r>
            <a:endParaRPr lang="en-US" sz="2400" dirty="0"/>
          </a:p>
        </p:txBody>
      </p:sp>
      <p:sp>
        <p:nvSpPr>
          <p:cNvPr id="4" name="Text 2"/>
          <p:cNvSpPr txBox="1"/>
          <p:nvPr/>
        </p:nvSpPr>
        <p:spPr>
          <a:xfrm>
            <a:off x="7955280" y="91440"/>
            <a:ext cx="914400" cy="640080"/>
          </a:xfrm>
          <a:prstGeom prst="rect">
            <a:avLst/>
          </a:prstGeom>
          <a:noFill/>
          <a:ln/>
        </p:spPr>
        <p:txBody>
          <a:bodyPr wrap="square" lIns="0" tIns="0" rIns="0" bIns="0" rtlCol="0" anchor="ctr"/>
          <a:lstStyle/>
          <a:p>
            <a:pPr algn="r" indent="0" marL="0">
              <a:buNone/>
            </a:pPr>
            <a:r>
              <a:rPr lang="en-US" sz="1200" b="1" dirty="0">
                <a:solidFill>
                  <a:srgbClr val="00B4D8"/>
                </a:solidFill>
                <a:latin typeface="Calibri" pitchFamily="34" charset="0"/>
                <a:ea typeface="Calibri" pitchFamily="34" charset="-122"/>
                <a:cs typeface="Calibri" pitchFamily="34" charset="-120"/>
              </a:rPr>
              <a:t>XLab IC</a:t>
            </a:r>
            <a:endParaRPr lang="en-US" sz="1200" dirty="0"/>
          </a:p>
        </p:txBody>
      </p:sp>
      <p:sp>
        <p:nvSpPr>
          <p:cNvPr id="5" name="Text 3"/>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914400"/>
        </p:xfrm>
        <a:graphic>
          <a:graphicData uri="http://schemas.openxmlformats.org/drawingml/2006/table">
            <a:tbl>
              <a:tblPr/>
              <a:tblGrid>
                <a:gridCol w="3291840"/>
                <a:gridCol w="822960"/>
                <a:gridCol w="393192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Composant</a:t>
                      </a:r>
                      <a:endParaRPr lang="en-US" sz="1300" dirty="0">
                        <a:latin typeface="Calibri" charset="0"/>
                        <a:ea typeface="Calibri" charset="0"/>
                        <a:cs typeface="Calibri" charset="0"/>
                      </a:endParaRPr>
                    </a:p>
                  </a:txBody>
                  <a:tcPr marL="91440" marR="91440" marT="45720" marB="45720">
                    <a:lnL w="9525" cap="flat" cmpd="sng" algn="ctr">
                      <a:solidFill>
                        <a:srgbClr val="B8C7D6"/>
                      </a:solidFill>
                      <a:prstDash val="solid"/>
                      <a:round/>
                      <a:headEnd type="none" w="med" len="med"/>
                      <a:tailEnd type="none" w="med" len="med"/>
                    </a:lnL>
                    <a:lnR w="9525" cap="flat" cmpd="sng" algn="ctr">
                      <a:solidFill>
                        <a:srgbClr val="B8C7D6"/>
                      </a:solidFill>
                      <a:prstDash val="solid"/>
                      <a:round/>
                      <a:headEnd type="none" w="med" len="med"/>
                      <a:tailEnd type="none" w="med" len="med"/>
                    </a:lnR>
                    <a:lnT w="9525" cap="flat" cmpd="sng" algn="ctr">
                      <a:solidFill>
                        <a:srgbClr val="B8C7D6"/>
                      </a:solidFill>
                      <a:prstDash val="solid"/>
                      <a:round/>
                      <a:headEnd type="none" w="med" len="med"/>
                      <a:tailEnd type="none" w="med" len="med"/>
                    </a:lnT>
                    <a:lnB w="9525" cap="flat" cmpd="sng" algn="ctr">
                      <a:solidFill>
                        <a:srgbClr val="B8C7D6"/>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Qté</a:t>
                      </a:r>
                      <a:endParaRPr lang="en-US" sz="1300" dirty="0">
                        <a:latin typeface="Calibri" charset="0"/>
                        <a:ea typeface="Calibri" charset="0"/>
                        <a:cs typeface="Calibri" charset="0"/>
                      </a:endParaRPr>
                    </a:p>
                  </a:txBody>
                  <a:tcPr marL="91440" marR="91440" marT="45720" marB="45720">
                    <a:lnL w="9525" cap="flat" cmpd="sng" algn="ctr">
                      <a:solidFill>
                        <a:srgbClr val="B8C7D6"/>
                      </a:solidFill>
                      <a:prstDash val="solid"/>
                      <a:round/>
                      <a:headEnd type="none" w="med" len="med"/>
                      <a:tailEnd type="none" w="med" len="med"/>
                    </a:lnL>
                    <a:lnR w="9525" cap="flat" cmpd="sng" algn="ctr">
                      <a:solidFill>
                        <a:srgbClr val="B8C7D6"/>
                      </a:solidFill>
                      <a:prstDash val="solid"/>
                      <a:round/>
                      <a:headEnd type="none" w="med" len="med"/>
                      <a:tailEnd type="none" w="med" len="med"/>
                    </a:lnR>
                    <a:lnT w="9525" cap="flat" cmpd="sng" algn="ctr">
                      <a:solidFill>
                        <a:srgbClr val="B8C7D6"/>
                      </a:solidFill>
                      <a:prstDash val="solid"/>
                      <a:round/>
                      <a:headEnd type="none" w="med" len="med"/>
                      <a:tailEnd type="none" w="med" len="med"/>
                    </a:lnT>
                    <a:lnB w="9525" cap="flat" cmpd="sng" algn="ctr">
                      <a:solidFill>
                        <a:srgbClr val="B8C7D6"/>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Rôle</a:t>
                      </a:r>
                      <a:endParaRPr lang="en-US" sz="1300" dirty="0">
                        <a:latin typeface="Calibri" charset="0"/>
                        <a:ea typeface="Calibri" charset="0"/>
                        <a:cs typeface="Calibri" charset="0"/>
                      </a:endParaRPr>
                    </a:p>
                  </a:txBody>
                  <a:tcPr marL="91440" marR="91440" marT="45720" marB="45720">
                    <a:lnL w="9525" cap="flat" cmpd="sng" algn="ctr">
                      <a:solidFill>
                        <a:srgbClr val="B8C7D6"/>
                      </a:solidFill>
                      <a:prstDash val="solid"/>
                      <a:round/>
                      <a:headEnd type="none" w="med" len="med"/>
                      <a:tailEnd type="none" w="med" len="med"/>
                    </a:lnL>
                    <a:lnR w="9525" cap="flat" cmpd="sng" algn="ctr">
                      <a:solidFill>
                        <a:srgbClr val="B8C7D6"/>
                      </a:solidFill>
                      <a:prstDash val="solid"/>
                      <a:round/>
                      <a:headEnd type="none" w="med" len="med"/>
                      <a:tailEnd type="none" w="med" len="med"/>
                    </a:lnR>
                    <a:lnT w="9525" cap="flat" cmpd="sng" algn="ctr">
                      <a:solidFill>
                        <a:srgbClr val="B8C7D6"/>
                      </a:solidFill>
                      <a:prstDash val="solid"/>
                      <a:round/>
                      <a:headEnd type="none" w="med" len="med"/>
                      <a:tailEnd type="none" w="med" len="med"/>
                    </a:lnT>
                    <a:lnB w="9525" cap="flat" cmpd="sng" algn="ctr">
                      <a:solidFill>
                        <a:srgbClr val="B8C7D6"/>
                      </a:solidFill>
                      <a:prstDash val="solid"/>
                      <a:round/>
                      <a:headEnd type="none" w="med" len="med"/>
                      <a:tailEnd type="none" w="med" len="med"/>
                    </a:lnB>
                    <a:solidFill>
                      <a:srgbClr val="0B1F3A"/>
                    </a:solidFill>
                  </a:tcPr>
                </a:tc>
              </a:tr>
              <a:tr h="457200">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Arduino Uno R3</a:t>
                      </a:r>
                      <a:endParaRPr lang="en-US" sz="1300" dirty="0">
                        <a:latin typeface="Calibri" charset="0"/>
                        <a:ea typeface="Calibri" charset="0"/>
                        <a:cs typeface="Calibri" charset="0"/>
                      </a:endParaRPr>
                    </a:p>
                  </a:txBody>
                  <a:tcPr marL="91440" marR="91440" marT="45720" marB="45720">
                    <a:lnL w="9525" cap="flat" cmpd="sng" algn="ctr">
                      <a:solidFill>
                        <a:srgbClr val="B8C7D6"/>
                      </a:solidFill>
                      <a:prstDash val="solid"/>
                      <a:round/>
                      <a:headEnd type="none" w="med" len="med"/>
                      <a:tailEnd type="none" w="med" len="med"/>
                    </a:lnL>
                    <a:lnR w="9525" cap="flat" cmpd="sng" algn="ctr">
                      <a:solidFill>
                        <a:srgbClr val="B8C7D6"/>
                      </a:solidFill>
                      <a:prstDash val="solid"/>
                      <a:round/>
                      <a:headEnd type="none" w="med" len="med"/>
                      <a:tailEnd type="none" w="med" len="med"/>
                    </a:lnR>
                    <a:lnT w="9525" cap="flat" cmpd="sng" algn="ctr">
                      <a:solidFill>
                        <a:srgbClr val="B8C7D6"/>
                      </a:solidFill>
                      <a:prstDash val="solid"/>
                      <a:round/>
                      <a:headEnd type="none" w="med" len="med"/>
                      <a:tailEnd type="none" w="med" len="med"/>
                    </a:lnT>
                    <a:lnB w="9525" cap="flat" cmpd="sng" algn="ctr">
                      <a:solidFill>
                        <a:srgbClr val="B8C7D6"/>
                      </a:solidFill>
                      <a:prstDash val="solid"/>
                      <a:round/>
                      <a:headEnd type="none" w="med" len="med"/>
                      <a:tailEnd type="none" w="med" len="med"/>
                    </a:lnB>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lnL w="9525" cap="flat" cmpd="sng" algn="ctr">
                      <a:solidFill>
                        <a:srgbClr val="B8C7D6"/>
                      </a:solidFill>
                      <a:prstDash val="solid"/>
                      <a:round/>
                      <a:headEnd type="none" w="med" len="med"/>
                      <a:tailEnd type="none" w="med" len="med"/>
                    </a:lnL>
                    <a:lnR w="9525" cap="flat" cmpd="sng" algn="ctr">
                      <a:solidFill>
                        <a:srgbClr val="B8C7D6"/>
                      </a:solidFill>
                      <a:prstDash val="solid"/>
                      <a:round/>
                      <a:headEnd type="none" w="med" len="med"/>
                      <a:tailEnd type="none" w="med" len="med"/>
                    </a:lnR>
                    <a:lnT w="9525" cap="flat" cmpd="sng" algn="ctr">
                      <a:solidFill>
                        <a:srgbClr val="B8C7D6"/>
                      </a:solidFill>
                      <a:prstDash val="solid"/>
                      <a:round/>
                      <a:headEnd type="none" w="med" len="med"/>
                      <a:tailEnd type="none" w="med" len="med"/>
                    </a:lnT>
                    <a:lnB w="9525" cap="flat" cmpd="sng" algn="ctr">
                      <a:solidFill>
                        <a:srgbClr val="B8C7D6"/>
                      </a:solidFill>
                      <a:prstDash val="solid"/>
                      <a:round/>
                      <a:headEnd type="none" w="med" len="med"/>
                      <a:tailEnd type="none" w="med" len="med"/>
                    </a:lnB>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Unité de traitement</a:t>
                      </a:r>
                      <a:endParaRPr lang="en-US" sz="1300" dirty="0">
                        <a:latin typeface="Calibri" charset="0"/>
                        <a:ea typeface="Calibri" charset="0"/>
                        <a:cs typeface="Calibri" charset="0"/>
                      </a:endParaRPr>
                    </a:p>
                  </a:txBody>
                  <a:tcPr marL="91440" marR="91440" marT="45720" marB="45720">
                    <a:lnL w="9525" cap="flat" cmpd="sng" algn="ctr">
                      <a:solidFill>
                        <a:srgbClr val="B8C7D6"/>
                      </a:solidFill>
                      <a:prstDash val="solid"/>
                      <a:round/>
                      <a:headEnd type="none" w="med" len="med"/>
                      <a:tailEnd type="none" w="med" len="med"/>
                    </a:lnL>
                    <a:lnR w="9525" cap="flat" cmpd="sng" algn="ctr">
                      <a:solidFill>
                        <a:srgbClr val="B8C7D6"/>
                      </a:solidFill>
                      <a:prstDash val="solid"/>
                      <a:round/>
                      <a:headEnd type="none" w="med" len="med"/>
                      <a:tailEnd type="none" w="med" len="med"/>
                    </a:lnR>
                    <a:lnT w="9525" cap="flat" cmpd="sng" algn="ctr">
                      <a:solidFill>
                        <a:srgbClr val="B8C7D6"/>
                      </a:solidFill>
                      <a:prstDash val="solid"/>
                      <a:round/>
                      <a:headEnd type="none" w="med" len="med"/>
                      <a:tailEnd type="none" w="med" len="med"/>
                    </a:lnT>
                    <a:lnB w="9525" cap="flat" cmpd="sng" algn="ctr">
                      <a:solidFill>
                        <a:srgbClr val="B8C7D6"/>
                      </a:solidFill>
                      <a:prstDash val="solid"/>
                      <a:round/>
                      <a:headEnd type="none" w="med" len="med"/>
                      <a:tailEnd type="none" w="med" len="med"/>
                    </a:lnB>
                  </a:tcPr>
                </a:tc>
              </a:tr>
              <a:tr h="457200">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Capteur HC-SR04</a:t>
                      </a:r>
                      <a:endParaRPr lang="en-US" sz="1300" dirty="0">
                        <a:latin typeface="Calibri" charset="0"/>
                        <a:ea typeface="Calibri" charset="0"/>
                        <a:cs typeface="Calibri" charset="0"/>
                      </a:endParaRPr>
                    </a:p>
                  </a:txBody>
                  <a:tcPr marL="91440" marR="91440" marT="45720" marB="45720">
                    <a:lnL w="9525" cap="flat" cmpd="sng" algn="ctr">
                      <a:solidFill>
                        <a:srgbClr val="B8C7D6"/>
                      </a:solidFill>
                      <a:prstDash val="solid"/>
                      <a:round/>
                      <a:headEnd type="none" w="med" len="med"/>
                      <a:tailEnd type="none" w="med" len="med"/>
                    </a:lnL>
                    <a:lnR w="9525" cap="flat" cmpd="sng" algn="ctr">
                      <a:solidFill>
                        <a:srgbClr val="B8C7D6"/>
                      </a:solidFill>
                      <a:prstDash val="solid"/>
                      <a:round/>
                      <a:headEnd type="none" w="med" len="med"/>
                      <a:tailEnd type="none" w="med" len="med"/>
                    </a:lnR>
                    <a:lnT w="9525" cap="flat" cmpd="sng" algn="ctr">
                      <a:solidFill>
                        <a:srgbClr val="B8C7D6"/>
                      </a:solidFill>
                      <a:prstDash val="solid"/>
                      <a:round/>
                      <a:headEnd type="none" w="med" len="med"/>
                      <a:tailEnd type="none" w="med" len="med"/>
                    </a:lnT>
                    <a:lnB w="9525" cap="flat" cmpd="sng" algn="ctr">
                      <a:solidFill>
                        <a:srgbClr val="B8C7D6"/>
                      </a:solidFill>
                      <a:prstDash val="solid"/>
                      <a:round/>
                      <a:headEnd type="none" w="med" len="med"/>
                      <a:tailEnd type="none" w="med" len="med"/>
                    </a:lnB>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lnL w="9525" cap="flat" cmpd="sng" algn="ctr">
                      <a:solidFill>
                        <a:srgbClr val="B8C7D6"/>
                      </a:solidFill>
                      <a:prstDash val="solid"/>
                      <a:round/>
                      <a:headEnd type="none" w="med" len="med"/>
                      <a:tailEnd type="none" w="med" len="med"/>
                    </a:lnL>
                    <a:lnR w="9525" cap="flat" cmpd="sng" algn="ctr">
                      <a:solidFill>
                        <a:srgbClr val="B8C7D6"/>
                      </a:solidFill>
                      <a:prstDash val="solid"/>
                      <a:round/>
                      <a:headEnd type="none" w="med" len="med"/>
                      <a:tailEnd type="none" w="med" len="med"/>
                    </a:lnR>
                    <a:lnT w="9525" cap="flat" cmpd="sng" algn="ctr">
                      <a:solidFill>
                        <a:srgbClr val="B8C7D6"/>
                      </a:solidFill>
                      <a:prstDash val="solid"/>
                      <a:round/>
                      <a:headEnd type="none" w="med" len="med"/>
                      <a:tailEnd type="none" w="med" len="med"/>
                    </a:lnT>
                    <a:lnB w="9525" cap="flat" cmpd="sng" algn="ctr">
                      <a:solidFill>
                        <a:srgbClr val="B8C7D6"/>
                      </a:solidFill>
                      <a:prstDash val="solid"/>
                      <a:round/>
                      <a:headEnd type="none" w="med" len="med"/>
                      <a:tailEnd type="none" w="med" len="med"/>
                    </a:lnB>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Détection entrée / sortie</a:t>
                      </a:r>
                      <a:endParaRPr lang="en-US" sz="1300" dirty="0">
                        <a:latin typeface="Calibri" charset="0"/>
                        <a:ea typeface="Calibri" charset="0"/>
                        <a:cs typeface="Calibri" charset="0"/>
                      </a:endParaRPr>
                    </a:p>
                  </a:txBody>
                  <a:tcPr marL="91440" marR="91440" marT="45720" marB="45720">
                    <a:lnL w="9525" cap="flat" cmpd="sng" algn="ctr">
                      <a:solidFill>
                        <a:srgbClr val="B8C7D6"/>
                      </a:solidFill>
                      <a:prstDash val="solid"/>
                      <a:round/>
                      <a:headEnd type="none" w="med" len="med"/>
                      <a:tailEnd type="none" w="med" len="med"/>
                    </a:lnL>
                    <a:lnR w="9525" cap="flat" cmpd="sng" algn="ctr">
                      <a:solidFill>
                        <a:srgbClr val="B8C7D6"/>
                      </a:solidFill>
                      <a:prstDash val="solid"/>
                      <a:round/>
                      <a:headEnd type="none" w="med" len="med"/>
                      <a:tailEnd type="none" w="med" len="med"/>
                    </a:lnR>
                    <a:lnT w="9525" cap="flat" cmpd="sng" algn="ctr">
                      <a:solidFill>
                        <a:srgbClr val="B8C7D6"/>
                      </a:solidFill>
                      <a:prstDash val="solid"/>
                      <a:round/>
                      <a:headEnd type="none" w="med" len="med"/>
                      <a:tailEnd type="none" w="med" len="med"/>
                    </a:lnT>
                    <a:lnB w="9525" cap="flat" cmpd="sng" algn="ctr">
                      <a:solidFill>
                        <a:srgbClr val="B8C7D6"/>
                      </a:solidFill>
                      <a:prstDash val="solid"/>
                      <a:round/>
                      <a:headEnd type="none" w="med" len="med"/>
                      <a:tailEnd type="none" w="med" len="med"/>
                    </a:lnB>
                  </a:tcPr>
                </a:tc>
              </a:tr>
              <a:tr h="457200">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Servomoteur SG90</a:t>
                      </a:r>
                      <a:endParaRPr lang="en-US" sz="1300" dirty="0">
                        <a:latin typeface="Calibri" charset="0"/>
                        <a:ea typeface="Calibri" charset="0"/>
                        <a:cs typeface="Calibri" charset="0"/>
                      </a:endParaRPr>
                    </a:p>
                  </a:txBody>
                  <a:tcPr marL="91440" marR="91440" marT="45720" marB="45720">
                    <a:lnL w="9525" cap="flat" cmpd="sng" algn="ctr">
                      <a:solidFill>
                        <a:srgbClr val="B8C7D6"/>
                      </a:solidFill>
                      <a:prstDash val="solid"/>
                      <a:round/>
                      <a:headEnd type="none" w="med" len="med"/>
                      <a:tailEnd type="none" w="med" len="med"/>
                    </a:lnL>
                    <a:lnR w="9525" cap="flat" cmpd="sng" algn="ctr">
                      <a:solidFill>
                        <a:srgbClr val="B8C7D6"/>
                      </a:solidFill>
                      <a:prstDash val="solid"/>
                      <a:round/>
                      <a:headEnd type="none" w="med" len="med"/>
                      <a:tailEnd type="none" w="med" len="med"/>
                    </a:lnR>
                    <a:lnT w="9525" cap="flat" cmpd="sng" algn="ctr">
                      <a:solidFill>
                        <a:srgbClr val="B8C7D6"/>
                      </a:solidFill>
                      <a:prstDash val="solid"/>
                      <a:round/>
                      <a:headEnd type="none" w="med" len="med"/>
                      <a:tailEnd type="none" w="med" len="med"/>
                    </a:lnT>
                    <a:lnB w="9525" cap="flat" cmpd="sng" algn="ctr">
                      <a:solidFill>
                        <a:srgbClr val="B8C7D6"/>
                      </a:solidFill>
                      <a:prstDash val="solid"/>
                      <a:round/>
                      <a:headEnd type="none" w="med" len="med"/>
                      <a:tailEnd type="none" w="med" len="med"/>
                    </a:lnB>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lnL w="9525" cap="flat" cmpd="sng" algn="ctr">
                      <a:solidFill>
                        <a:srgbClr val="B8C7D6"/>
                      </a:solidFill>
                      <a:prstDash val="solid"/>
                      <a:round/>
                      <a:headEnd type="none" w="med" len="med"/>
                      <a:tailEnd type="none" w="med" len="med"/>
                    </a:lnL>
                    <a:lnR w="9525" cap="flat" cmpd="sng" algn="ctr">
                      <a:solidFill>
                        <a:srgbClr val="B8C7D6"/>
                      </a:solidFill>
                      <a:prstDash val="solid"/>
                      <a:round/>
                      <a:headEnd type="none" w="med" len="med"/>
                      <a:tailEnd type="none" w="med" len="med"/>
                    </a:lnR>
                    <a:lnT w="9525" cap="flat" cmpd="sng" algn="ctr">
                      <a:solidFill>
                        <a:srgbClr val="B8C7D6"/>
                      </a:solidFill>
                      <a:prstDash val="solid"/>
                      <a:round/>
                      <a:headEnd type="none" w="med" len="med"/>
                      <a:tailEnd type="none" w="med" len="med"/>
                    </a:lnT>
                    <a:lnB w="9525" cap="flat" cmpd="sng" algn="ctr">
                      <a:solidFill>
                        <a:srgbClr val="B8C7D6"/>
                      </a:solidFill>
                      <a:prstDash val="solid"/>
                      <a:round/>
                      <a:headEnd type="none" w="med" len="med"/>
                      <a:tailEnd type="none" w="med" len="med"/>
                    </a:lnB>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Barrière</a:t>
                      </a:r>
                      <a:endParaRPr lang="en-US" sz="1300" dirty="0">
                        <a:latin typeface="Calibri" charset="0"/>
                        <a:ea typeface="Calibri" charset="0"/>
                        <a:cs typeface="Calibri" charset="0"/>
                      </a:endParaRPr>
                    </a:p>
                  </a:txBody>
                  <a:tcPr marL="91440" marR="91440" marT="45720" marB="45720">
                    <a:lnL w="9525" cap="flat" cmpd="sng" algn="ctr">
                      <a:solidFill>
                        <a:srgbClr val="B8C7D6"/>
                      </a:solidFill>
                      <a:prstDash val="solid"/>
                      <a:round/>
                      <a:headEnd type="none" w="med" len="med"/>
                      <a:tailEnd type="none" w="med" len="med"/>
                    </a:lnL>
                    <a:lnR w="9525" cap="flat" cmpd="sng" algn="ctr">
                      <a:solidFill>
                        <a:srgbClr val="B8C7D6"/>
                      </a:solidFill>
                      <a:prstDash val="solid"/>
                      <a:round/>
                      <a:headEnd type="none" w="med" len="med"/>
                      <a:tailEnd type="none" w="med" len="med"/>
                    </a:lnR>
                    <a:lnT w="9525" cap="flat" cmpd="sng" algn="ctr">
                      <a:solidFill>
                        <a:srgbClr val="B8C7D6"/>
                      </a:solidFill>
                      <a:prstDash val="solid"/>
                      <a:round/>
                      <a:headEnd type="none" w="med" len="med"/>
                      <a:tailEnd type="none" w="med" len="med"/>
                    </a:lnT>
                    <a:lnB w="9525" cap="flat" cmpd="sng" algn="ctr">
                      <a:solidFill>
                        <a:srgbClr val="B8C7D6"/>
                      </a:solidFill>
                      <a:prstDash val="solid"/>
                      <a:round/>
                      <a:headEnd type="none" w="med" len="med"/>
                      <a:tailEnd type="none" w="med" len="med"/>
                    </a:lnB>
                  </a:tcPr>
                </a:tc>
              </a:tr>
              <a:tr h="457200">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LCD 16×2</a:t>
                      </a:r>
                      <a:endParaRPr lang="en-US" sz="1300" dirty="0">
                        <a:latin typeface="Calibri" charset="0"/>
                        <a:ea typeface="Calibri" charset="0"/>
                        <a:cs typeface="Calibri" charset="0"/>
                      </a:endParaRPr>
                    </a:p>
                  </a:txBody>
                  <a:tcPr marL="91440" marR="91440" marT="45720" marB="45720">
                    <a:lnL w="9525" cap="flat" cmpd="sng" algn="ctr">
                      <a:solidFill>
                        <a:srgbClr val="B8C7D6"/>
                      </a:solidFill>
                      <a:prstDash val="solid"/>
                      <a:round/>
                      <a:headEnd type="none" w="med" len="med"/>
                      <a:tailEnd type="none" w="med" len="med"/>
                    </a:lnL>
                    <a:lnR w="9525" cap="flat" cmpd="sng" algn="ctr">
                      <a:solidFill>
                        <a:srgbClr val="B8C7D6"/>
                      </a:solidFill>
                      <a:prstDash val="solid"/>
                      <a:round/>
                      <a:headEnd type="none" w="med" len="med"/>
                      <a:tailEnd type="none" w="med" len="med"/>
                    </a:lnR>
                    <a:lnT w="9525" cap="flat" cmpd="sng" algn="ctr">
                      <a:solidFill>
                        <a:srgbClr val="B8C7D6"/>
                      </a:solidFill>
                      <a:prstDash val="solid"/>
                      <a:round/>
                      <a:headEnd type="none" w="med" len="med"/>
                      <a:tailEnd type="none" w="med" len="med"/>
                    </a:lnT>
                    <a:lnB w="9525" cap="flat" cmpd="sng" algn="ctr">
                      <a:solidFill>
                        <a:srgbClr val="B8C7D6"/>
                      </a:solidFill>
                      <a:prstDash val="solid"/>
                      <a:round/>
                      <a:headEnd type="none" w="med" len="med"/>
                      <a:tailEnd type="none" w="med" len="med"/>
                    </a:lnB>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lnL w="9525" cap="flat" cmpd="sng" algn="ctr">
                      <a:solidFill>
                        <a:srgbClr val="B8C7D6"/>
                      </a:solidFill>
                      <a:prstDash val="solid"/>
                      <a:round/>
                      <a:headEnd type="none" w="med" len="med"/>
                      <a:tailEnd type="none" w="med" len="med"/>
                    </a:lnL>
                    <a:lnR w="9525" cap="flat" cmpd="sng" algn="ctr">
                      <a:solidFill>
                        <a:srgbClr val="B8C7D6"/>
                      </a:solidFill>
                      <a:prstDash val="solid"/>
                      <a:round/>
                      <a:headEnd type="none" w="med" len="med"/>
                      <a:tailEnd type="none" w="med" len="med"/>
                    </a:lnR>
                    <a:lnT w="9525" cap="flat" cmpd="sng" algn="ctr">
                      <a:solidFill>
                        <a:srgbClr val="B8C7D6"/>
                      </a:solidFill>
                      <a:prstDash val="solid"/>
                      <a:round/>
                      <a:headEnd type="none" w="med" len="med"/>
                      <a:tailEnd type="none" w="med" len="med"/>
                    </a:lnT>
                    <a:lnB w="9525" cap="flat" cmpd="sng" algn="ctr">
                      <a:solidFill>
                        <a:srgbClr val="B8C7D6"/>
                      </a:solidFill>
                      <a:prstDash val="solid"/>
                      <a:round/>
                      <a:headEnd type="none" w="med" len="med"/>
                      <a:tailEnd type="none" w="med" len="med"/>
                    </a:lnB>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Affichage des places</a:t>
                      </a:r>
                      <a:endParaRPr lang="en-US" sz="1300" dirty="0">
                        <a:latin typeface="Calibri" charset="0"/>
                        <a:ea typeface="Calibri" charset="0"/>
                        <a:cs typeface="Calibri" charset="0"/>
                      </a:endParaRPr>
                    </a:p>
                  </a:txBody>
                  <a:tcPr marL="91440" marR="91440" marT="45720" marB="45720">
                    <a:lnL w="9525" cap="flat" cmpd="sng" algn="ctr">
                      <a:solidFill>
                        <a:srgbClr val="B8C7D6"/>
                      </a:solidFill>
                      <a:prstDash val="solid"/>
                      <a:round/>
                      <a:headEnd type="none" w="med" len="med"/>
                      <a:tailEnd type="none" w="med" len="med"/>
                    </a:lnL>
                    <a:lnR w="9525" cap="flat" cmpd="sng" algn="ctr">
                      <a:solidFill>
                        <a:srgbClr val="B8C7D6"/>
                      </a:solidFill>
                      <a:prstDash val="solid"/>
                      <a:round/>
                      <a:headEnd type="none" w="med" len="med"/>
                      <a:tailEnd type="none" w="med" len="med"/>
                    </a:lnR>
                    <a:lnT w="9525" cap="flat" cmpd="sng" algn="ctr">
                      <a:solidFill>
                        <a:srgbClr val="B8C7D6"/>
                      </a:solidFill>
                      <a:prstDash val="solid"/>
                      <a:round/>
                      <a:headEnd type="none" w="med" len="med"/>
                      <a:tailEnd type="none" w="med" len="med"/>
                    </a:lnT>
                    <a:lnB w="9525" cap="flat" cmpd="sng" algn="ctr">
                      <a:solidFill>
                        <a:srgbClr val="B8C7D6"/>
                      </a:solidFill>
                      <a:prstDash val="solid"/>
                      <a:round/>
                      <a:headEnd type="none" w="med" len="med"/>
                      <a:tailEnd type="none" w="med" len="med"/>
                    </a:lnB>
                  </a:tcPr>
                </a:tc>
              </a:tr>
              <a:tr h="457200">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LED verte / rouge, buzzer</a:t>
                      </a:r>
                      <a:endParaRPr lang="en-US" sz="1300" dirty="0">
                        <a:latin typeface="Calibri" charset="0"/>
                        <a:ea typeface="Calibri" charset="0"/>
                        <a:cs typeface="Calibri" charset="0"/>
                      </a:endParaRPr>
                    </a:p>
                  </a:txBody>
                  <a:tcPr marL="91440" marR="91440" marT="45720" marB="45720">
                    <a:lnL w="9525" cap="flat" cmpd="sng" algn="ctr">
                      <a:solidFill>
                        <a:srgbClr val="B8C7D6"/>
                      </a:solidFill>
                      <a:prstDash val="solid"/>
                      <a:round/>
                      <a:headEnd type="none" w="med" len="med"/>
                      <a:tailEnd type="none" w="med" len="med"/>
                    </a:lnL>
                    <a:lnR w="9525" cap="flat" cmpd="sng" algn="ctr">
                      <a:solidFill>
                        <a:srgbClr val="B8C7D6"/>
                      </a:solidFill>
                      <a:prstDash val="solid"/>
                      <a:round/>
                      <a:headEnd type="none" w="med" len="med"/>
                      <a:tailEnd type="none" w="med" len="med"/>
                    </a:lnR>
                    <a:lnT w="9525" cap="flat" cmpd="sng" algn="ctr">
                      <a:solidFill>
                        <a:srgbClr val="B8C7D6"/>
                      </a:solidFill>
                      <a:prstDash val="solid"/>
                      <a:round/>
                      <a:headEnd type="none" w="med" len="med"/>
                      <a:tailEnd type="none" w="med" len="med"/>
                    </a:lnT>
                    <a:lnB w="9525" cap="flat" cmpd="sng" algn="ctr">
                      <a:solidFill>
                        <a:srgbClr val="B8C7D6"/>
                      </a:solidFill>
                      <a:prstDash val="solid"/>
                      <a:round/>
                      <a:headEnd type="none" w="med" len="med"/>
                      <a:tailEnd type="none" w="med" len="med"/>
                    </a:lnB>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lnL w="9525" cap="flat" cmpd="sng" algn="ctr">
                      <a:solidFill>
                        <a:srgbClr val="B8C7D6"/>
                      </a:solidFill>
                      <a:prstDash val="solid"/>
                      <a:round/>
                      <a:headEnd type="none" w="med" len="med"/>
                      <a:tailEnd type="none" w="med" len="med"/>
                    </a:lnL>
                    <a:lnR w="9525" cap="flat" cmpd="sng" algn="ctr">
                      <a:solidFill>
                        <a:srgbClr val="B8C7D6"/>
                      </a:solidFill>
                      <a:prstDash val="solid"/>
                      <a:round/>
                      <a:headEnd type="none" w="med" len="med"/>
                      <a:tailEnd type="none" w="med" len="med"/>
                    </a:lnR>
                    <a:lnT w="9525" cap="flat" cmpd="sng" algn="ctr">
                      <a:solidFill>
                        <a:srgbClr val="B8C7D6"/>
                      </a:solidFill>
                      <a:prstDash val="solid"/>
                      <a:round/>
                      <a:headEnd type="none" w="med" len="med"/>
                      <a:tailEnd type="none" w="med" len="med"/>
                    </a:lnT>
                    <a:lnB w="9525" cap="flat" cmpd="sng" algn="ctr">
                      <a:solidFill>
                        <a:srgbClr val="B8C7D6"/>
                      </a:solidFill>
                      <a:prstDash val="solid"/>
                      <a:round/>
                      <a:headEnd type="none" w="med" len="med"/>
                      <a:tailEnd type="none" w="med" len="med"/>
                    </a:lnB>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État et alerte</a:t>
                      </a:r>
                      <a:endParaRPr lang="en-US" sz="1300" dirty="0">
                        <a:latin typeface="Calibri" charset="0"/>
                        <a:ea typeface="Calibri" charset="0"/>
                        <a:cs typeface="Calibri" charset="0"/>
                      </a:endParaRPr>
                    </a:p>
                  </a:txBody>
                  <a:tcPr marL="91440" marR="91440" marT="45720" marB="45720">
                    <a:lnL w="9525" cap="flat" cmpd="sng" algn="ctr">
                      <a:solidFill>
                        <a:srgbClr val="B8C7D6"/>
                      </a:solidFill>
                      <a:prstDash val="solid"/>
                      <a:round/>
                      <a:headEnd type="none" w="med" len="med"/>
                      <a:tailEnd type="none" w="med" len="med"/>
                    </a:lnL>
                    <a:lnR w="9525" cap="flat" cmpd="sng" algn="ctr">
                      <a:solidFill>
                        <a:srgbClr val="B8C7D6"/>
                      </a:solidFill>
                      <a:prstDash val="solid"/>
                      <a:round/>
                      <a:headEnd type="none" w="med" len="med"/>
                      <a:tailEnd type="none" w="med" len="med"/>
                    </a:lnR>
                    <a:lnT w="9525" cap="flat" cmpd="sng" algn="ctr">
                      <a:solidFill>
                        <a:srgbClr val="B8C7D6"/>
                      </a:solidFill>
                      <a:prstDash val="solid"/>
                      <a:round/>
                      <a:headEnd type="none" w="med" len="med"/>
                      <a:tailEnd type="none" w="med" len="med"/>
                    </a:lnT>
                    <a:lnB w="9525" cap="flat" cmpd="sng" algn="ctr">
                      <a:solidFill>
                        <a:srgbClr val="B8C7D6"/>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F3A"/>
          </a:solidFill>
          <a:ln w="12700">
            <a:solidFill>
              <a:srgbClr val="0B1F3A"/>
            </a:solidFill>
            <a:prstDash val="solid"/>
          </a:ln>
        </p:spPr>
      </p:sp>
      <p:sp>
        <p:nvSpPr>
          <p:cNvPr id="3" name="Text 1"/>
          <p:cNvSpPr txBox="1"/>
          <p:nvPr/>
        </p:nvSpPr>
        <p:spPr>
          <a:xfrm>
            <a:off x="457200" y="91440"/>
            <a:ext cx="768096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Câblage</a:t>
            </a:r>
            <a:endParaRPr lang="en-US" sz="2400" dirty="0"/>
          </a:p>
        </p:txBody>
      </p:sp>
      <p:sp>
        <p:nvSpPr>
          <p:cNvPr id="4" name="Text 2"/>
          <p:cNvSpPr txBox="1"/>
          <p:nvPr/>
        </p:nvSpPr>
        <p:spPr>
          <a:xfrm>
            <a:off x="7955280" y="91440"/>
            <a:ext cx="914400" cy="640080"/>
          </a:xfrm>
          <a:prstGeom prst="rect">
            <a:avLst/>
          </a:prstGeom>
          <a:noFill/>
          <a:ln/>
        </p:spPr>
        <p:txBody>
          <a:bodyPr wrap="square" lIns="0" tIns="0" rIns="0" bIns="0" rtlCol="0" anchor="ctr"/>
          <a:lstStyle/>
          <a:p>
            <a:pPr algn="r" indent="0" marL="0">
              <a:buNone/>
            </a:pPr>
            <a:r>
              <a:rPr lang="en-US" sz="1200" b="1" dirty="0">
                <a:solidFill>
                  <a:srgbClr val="00B4D8"/>
                </a:solidFill>
                <a:latin typeface="Calibri" pitchFamily="34" charset="0"/>
                <a:ea typeface="Calibri" pitchFamily="34" charset="-122"/>
                <a:cs typeface="Calibri" pitchFamily="34" charset="-120"/>
              </a:rPr>
              <a:t>XLab IC</a:t>
            </a:r>
            <a:endParaRPr lang="en-US" sz="1200" dirty="0"/>
          </a:p>
        </p:txBody>
      </p:sp>
      <p:sp>
        <p:nvSpPr>
          <p:cNvPr id="5" name="Text 3"/>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6</a:t>
            </a:r>
            <a:endParaRPr lang="en-US" sz="1000" dirty="0"/>
          </a:p>
        </p:txBody>
      </p:sp>
      <p:pic>
        <p:nvPicPr>
          <p:cNvPr id="7" name="Image 0" descr="Schéma de câblage">    </p:cNvPr>
          <p:cNvPicPr>
            <a:picLocks noChangeAspect="1"/>
          </p:cNvPicPr>
          <p:nvPr/>
        </p:nvPicPr>
        <p:blipFill>
          <a:blip r:embed="rId1"/>
          <a:stretch>
            <a:fillRect/>
          </a:stretch>
        </p:blipFill>
        <p:spPr>
          <a:xfrm>
            <a:off x="1683832" y="960120"/>
            <a:ext cx="5776336" cy="37033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F3A"/>
          </a:solidFill>
          <a:ln w="12700">
            <a:solidFill>
              <a:srgbClr val="0B1F3A"/>
            </a:solidFill>
            <a:prstDash val="solid"/>
          </a:ln>
        </p:spPr>
      </p:sp>
      <p:sp>
        <p:nvSpPr>
          <p:cNvPr id="3" name="Text 1"/>
          <p:cNvSpPr txBox="1"/>
          <p:nvPr/>
        </p:nvSpPr>
        <p:spPr>
          <a:xfrm>
            <a:off x="457200" y="91440"/>
            <a:ext cx="768096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Fonctionnement</a:t>
            </a:r>
            <a:endParaRPr lang="en-US" sz="2400" dirty="0"/>
          </a:p>
        </p:txBody>
      </p:sp>
      <p:sp>
        <p:nvSpPr>
          <p:cNvPr id="4" name="Text 2"/>
          <p:cNvSpPr txBox="1"/>
          <p:nvPr/>
        </p:nvSpPr>
        <p:spPr>
          <a:xfrm>
            <a:off x="7955280" y="91440"/>
            <a:ext cx="914400" cy="640080"/>
          </a:xfrm>
          <a:prstGeom prst="rect">
            <a:avLst/>
          </a:prstGeom>
          <a:noFill/>
          <a:ln/>
        </p:spPr>
        <p:txBody>
          <a:bodyPr wrap="square" lIns="0" tIns="0" rIns="0" bIns="0" rtlCol="0" anchor="ctr"/>
          <a:lstStyle/>
          <a:p>
            <a:pPr algn="r" indent="0" marL="0">
              <a:buNone/>
            </a:pPr>
            <a:r>
              <a:rPr lang="en-US" sz="1200" b="1" dirty="0">
                <a:solidFill>
                  <a:srgbClr val="00B4D8"/>
                </a:solidFill>
                <a:latin typeface="Calibri" pitchFamily="34" charset="0"/>
                <a:ea typeface="Calibri" pitchFamily="34" charset="-122"/>
                <a:cs typeface="Calibri" pitchFamily="34" charset="-120"/>
              </a:rPr>
              <a:t>XLab IC</a:t>
            </a:r>
            <a:endParaRPr lang="en-US" sz="1200" dirty="0"/>
          </a:p>
        </p:txBody>
      </p:sp>
      <p:sp>
        <p:nvSpPr>
          <p:cNvPr id="5" name="Text 3"/>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7</a:t>
            </a:r>
            <a:endParaRPr lang="en-US" sz="1000" dirty="0"/>
          </a:p>
        </p:txBody>
      </p:sp>
      <p:sp>
        <p:nvSpPr>
          <p:cNvPr id="7" name="Text 4"/>
          <p:cNvSpPr txBox="1"/>
          <p:nvPr/>
        </p:nvSpPr>
        <p:spPr>
          <a:xfrm>
            <a:off x="548640" y="1143000"/>
            <a:ext cx="8046720" cy="347472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Mesure des deux capteurs toutes les 100 ms</a:t>
            </a:r>
            <a:endParaRPr lang="en-US" sz="2200" dirty="0"/>
          </a:p>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Véhicule détecté (&lt; 15 cm, 3 mesures) : places − 1, barrière ouverte, bip</a:t>
            </a:r>
            <a:endParaRPr lang="en-US" sz="2200" dirty="0"/>
          </a:p>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Parking complet : barrière fermée, bip long, LED rouge</a:t>
            </a:r>
            <a:endParaRPr lang="en-US" sz="2200" dirty="0"/>
          </a:p>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Sortie détectée : places + 1, barrière ouverte</a:t>
            </a:r>
            <a:endParaRPr lang="en-US" sz="2200" dirty="0"/>
          </a:p>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Zones dégagées 2 s : barrière refermée</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F3A"/>
          </a:solidFill>
          <a:ln w="12700">
            <a:solidFill>
              <a:srgbClr val="0B1F3A"/>
            </a:solidFill>
            <a:prstDash val="solid"/>
          </a:ln>
        </p:spPr>
      </p:sp>
      <p:sp>
        <p:nvSpPr>
          <p:cNvPr id="3" name="Text 1"/>
          <p:cNvSpPr txBox="1"/>
          <p:nvPr/>
        </p:nvSpPr>
        <p:spPr>
          <a:xfrm>
            <a:off x="457200" y="91440"/>
            <a:ext cx="768096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Choix logiciels</a:t>
            </a:r>
            <a:endParaRPr lang="en-US" sz="2400" dirty="0"/>
          </a:p>
        </p:txBody>
      </p:sp>
      <p:sp>
        <p:nvSpPr>
          <p:cNvPr id="4" name="Text 2"/>
          <p:cNvSpPr txBox="1"/>
          <p:nvPr/>
        </p:nvSpPr>
        <p:spPr>
          <a:xfrm>
            <a:off x="7955280" y="91440"/>
            <a:ext cx="914400" cy="640080"/>
          </a:xfrm>
          <a:prstGeom prst="rect">
            <a:avLst/>
          </a:prstGeom>
          <a:noFill/>
          <a:ln/>
        </p:spPr>
        <p:txBody>
          <a:bodyPr wrap="square" lIns="0" tIns="0" rIns="0" bIns="0" rtlCol="0" anchor="ctr"/>
          <a:lstStyle/>
          <a:p>
            <a:pPr algn="r" indent="0" marL="0">
              <a:buNone/>
            </a:pPr>
            <a:r>
              <a:rPr lang="en-US" sz="1200" b="1" dirty="0">
                <a:solidFill>
                  <a:srgbClr val="00B4D8"/>
                </a:solidFill>
                <a:latin typeface="Calibri" pitchFamily="34" charset="0"/>
                <a:ea typeface="Calibri" pitchFamily="34" charset="-122"/>
                <a:cs typeface="Calibri" pitchFamily="34" charset="-120"/>
              </a:rPr>
              <a:t>XLab IC</a:t>
            </a:r>
            <a:endParaRPr lang="en-US" sz="1200" dirty="0"/>
          </a:p>
        </p:txBody>
      </p:sp>
      <p:sp>
        <p:nvSpPr>
          <p:cNvPr id="5" name="Text 3"/>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8</a:t>
            </a:r>
            <a:endParaRPr lang="en-US" sz="1000" dirty="0"/>
          </a:p>
        </p:txBody>
      </p:sp>
      <p:sp>
        <p:nvSpPr>
          <p:cNvPr id="7" name="Text 4"/>
          <p:cNvSpPr txBox="1"/>
          <p:nvPr/>
        </p:nvSpPr>
        <p:spPr>
          <a:xfrm>
            <a:off x="548640" y="1143000"/>
            <a:ext cx="8046720" cy="347472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Programme non bloquant (millis) : buzzer et barrière sans arrêt de la boucle</a:t>
            </a:r>
            <a:endParaRPr lang="en-US" sz="2200" dirty="0"/>
          </a:p>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Filtre : 3 mesures consécutives, hystérésis 15 / 25 cm</a:t>
            </a:r>
            <a:endParaRPr lang="en-US" sz="2200" dirty="0"/>
          </a:p>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Verrous anti-double comptage entrée / sortie</a:t>
            </a:r>
            <a:endParaRPr lang="en-US" sz="2200" dirty="0"/>
          </a:p>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Compilé pour Arduino Uno : environ 6,2 Ko (19 % de la flash)</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F3A"/>
          </a:solidFill>
          <a:ln w="12700">
            <a:solidFill>
              <a:srgbClr val="0B1F3A"/>
            </a:solidFill>
            <a:prstDash val="solid"/>
          </a:ln>
        </p:spPr>
      </p:sp>
      <p:sp>
        <p:nvSpPr>
          <p:cNvPr id="3" name="Text 1"/>
          <p:cNvSpPr txBox="1"/>
          <p:nvPr/>
        </p:nvSpPr>
        <p:spPr>
          <a:xfrm>
            <a:off x="457200" y="91440"/>
            <a:ext cx="768096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Simulation et essais</a:t>
            </a:r>
            <a:endParaRPr lang="en-US" sz="2400" dirty="0"/>
          </a:p>
        </p:txBody>
      </p:sp>
      <p:sp>
        <p:nvSpPr>
          <p:cNvPr id="4" name="Text 2"/>
          <p:cNvSpPr txBox="1"/>
          <p:nvPr/>
        </p:nvSpPr>
        <p:spPr>
          <a:xfrm>
            <a:off x="7955280" y="91440"/>
            <a:ext cx="914400" cy="640080"/>
          </a:xfrm>
          <a:prstGeom prst="rect">
            <a:avLst/>
          </a:prstGeom>
          <a:noFill/>
          <a:ln/>
        </p:spPr>
        <p:txBody>
          <a:bodyPr wrap="square" lIns="0" tIns="0" rIns="0" bIns="0" rtlCol="0" anchor="ctr"/>
          <a:lstStyle/>
          <a:p>
            <a:pPr algn="r" indent="0" marL="0">
              <a:buNone/>
            </a:pPr>
            <a:r>
              <a:rPr lang="en-US" sz="1200" b="1" dirty="0">
                <a:solidFill>
                  <a:srgbClr val="00B4D8"/>
                </a:solidFill>
                <a:latin typeface="Calibri" pitchFamily="34" charset="0"/>
                <a:ea typeface="Calibri" pitchFamily="34" charset="-122"/>
                <a:cs typeface="Calibri" pitchFamily="34" charset="-120"/>
              </a:rPr>
              <a:t>XLab IC</a:t>
            </a:r>
            <a:endParaRPr lang="en-US" sz="1200" dirty="0"/>
          </a:p>
        </p:txBody>
      </p:sp>
      <p:sp>
        <p:nvSpPr>
          <p:cNvPr id="5" name="Text 3"/>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9</a:t>
            </a:r>
            <a:endParaRPr lang="en-US" sz="1000" dirty="0"/>
          </a:p>
        </p:txBody>
      </p:sp>
      <p:sp>
        <p:nvSpPr>
          <p:cNvPr id="7" name="Text 4"/>
          <p:cNvSpPr txBox="1"/>
          <p:nvPr/>
        </p:nvSpPr>
        <p:spPr>
          <a:xfrm>
            <a:off x="548640" y="1143000"/>
            <a:ext cx="8046720" cy="347472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Simulation Wokwi : démarrage « Places : 4/4 » et scénario d’entrée</a:t>
            </a:r>
            <a:endParaRPr lang="en-US" sz="2200" dirty="0"/>
          </a:p>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Essais prévus : entrée, sortie, parking complet, fermeture</a:t>
            </a:r>
            <a:endParaRPr lang="en-US" sz="2200" dirty="0"/>
          </a:p>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Résultats attendus : voir le plan d’essais du rapport</a:t>
            </a:r>
            <a:endParaRPr lang="en-US" sz="2200" dirty="0"/>
          </a:p>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À compléter : vos mesures réelles (colonne « Mesuré »)</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F3A"/>
          </a:solidFill>
          <a:ln w="12700">
            <a:solidFill>
              <a:srgbClr val="0B1F3A"/>
            </a:solidFill>
            <a:prstDash val="solid"/>
          </a:ln>
        </p:spPr>
      </p:sp>
      <p:sp>
        <p:nvSpPr>
          <p:cNvPr id="3" name="Text 1"/>
          <p:cNvSpPr txBox="1"/>
          <p:nvPr/>
        </p:nvSpPr>
        <p:spPr>
          <a:xfrm>
            <a:off x="457200" y="91440"/>
            <a:ext cx="768096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Limites et perspectives</a:t>
            </a:r>
            <a:endParaRPr lang="en-US" sz="2400" dirty="0"/>
          </a:p>
        </p:txBody>
      </p:sp>
      <p:sp>
        <p:nvSpPr>
          <p:cNvPr id="4" name="Text 2"/>
          <p:cNvSpPr txBox="1"/>
          <p:nvPr/>
        </p:nvSpPr>
        <p:spPr>
          <a:xfrm>
            <a:off x="7955280" y="91440"/>
            <a:ext cx="914400" cy="640080"/>
          </a:xfrm>
          <a:prstGeom prst="rect">
            <a:avLst/>
          </a:prstGeom>
          <a:noFill/>
          <a:ln/>
        </p:spPr>
        <p:txBody>
          <a:bodyPr wrap="square" lIns="0" tIns="0" rIns="0" bIns="0" rtlCol="0" anchor="ctr"/>
          <a:lstStyle/>
          <a:p>
            <a:pPr algn="r" indent="0" marL="0">
              <a:buNone/>
            </a:pPr>
            <a:r>
              <a:rPr lang="en-US" sz="1200" b="1" dirty="0">
                <a:solidFill>
                  <a:srgbClr val="00B4D8"/>
                </a:solidFill>
                <a:latin typeface="Calibri" pitchFamily="34" charset="0"/>
                <a:ea typeface="Calibri" pitchFamily="34" charset="-122"/>
                <a:cs typeface="Calibri" pitchFamily="34" charset="-120"/>
              </a:rPr>
              <a:t>XLab IC</a:t>
            </a:r>
            <a:endParaRPr lang="en-US" sz="1200" dirty="0"/>
          </a:p>
        </p:txBody>
      </p:sp>
      <p:sp>
        <p:nvSpPr>
          <p:cNvPr id="5" name="Text 3"/>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10</a:t>
            </a:r>
            <a:endParaRPr lang="en-US" sz="1000" dirty="0"/>
          </a:p>
        </p:txBody>
      </p:sp>
      <p:sp>
        <p:nvSpPr>
          <p:cNvPr id="7" name="Text 4"/>
          <p:cNvSpPr txBox="1"/>
          <p:nvPr/>
        </p:nvSpPr>
        <p:spPr>
          <a:xfrm>
            <a:off x="548640" y="1143000"/>
            <a:ext cx="8046720" cy="347472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Limites : ultrasons sensibles aux surfaces et à la température ; compteur non sauvegardé</a:t>
            </a:r>
            <a:endParaRPr lang="en-US" sz="2200" dirty="0"/>
          </a:p>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Sauvegarde du compteur dans l’EEPROM</a:t>
            </a:r>
            <a:endParaRPr lang="en-US" sz="2200" dirty="0"/>
          </a:p>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ESP32 : état du parking sur page web ou application</a:t>
            </a:r>
            <a:endParaRPr lang="en-US" sz="2200" dirty="0"/>
          </a:p>
          <a:p>
            <a:pPr marL="342900" indent="-342900">
              <a:spcAft>
                <a:spcPts val="1400"/>
              </a:spcAft>
              <a:buSzPct val="100000"/>
              <a:buChar char="•"/>
            </a:pPr>
            <a:r>
              <a:rPr lang="en-US" sz="2200" dirty="0">
                <a:solidFill>
                  <a:srgbClr val="1B2A3A"/>
                </a:solidFill>
                <a:latin typeface="Calibri" pitchFamily="34" charset="0"/>
                <a:ea typeface="Calibri" pitchFamily="34" charset="-122"/>
                <a:cs typeface="Calibri" pitchFamily="34" charset="-120"/>
              </a:rPr>
              <a:t>Capteur de température, lecteur RFID, plusieurs niveaux</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548640" y="548640"/>
            <a:ext cx="8046720"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Conclusion</a:t>
            </a:r>
            <a:endParaRPr lang="en-US" sz="3400" dirty="0"/>
          </a:p>
        </p:txBody>
      </p:sp>
      <p:sp>
        <p:nvSpPr>
          <p:cNvPr id="3" name="Text 1"/>
          <p:cNvSpPr txBox="1"/>
          <p:nvPr/>
        </p:nvSpPr>
        <p:spPr>
          <a:xfrm>
            <a:off x="548640" y="1463040"/>
            <a:ext cx="8046720" cy="1280160"/>
          </a:xfrm>
          <a:prstGeom prst="rect">
            <a:avLst/>
          </a:prstGeom>
          <a:noFill/>
          <a:ln/>
        </p:spPr>
        <p:txBody>
          <a:bodyPr wrap="square" lIns="0" tIns="0" rIns="0" bIns="0" rtlCol="0" anchor="ctr"/>
          <a:lstStyle/>
          <a:p>
            <a:pPr indent="0" marL="0">
              <a:buNone/>
            </a:pPr>
            <a:r>
              <a:rPr lang="en-US" sz="2200" dirty="0">
                <a:solidFill>
                  <a:srgbClr val="00B4D8"/>
                </a:solidFill>
                <a:latin typeface="Calibri" pitchFamily="34" charset="0"/>
                <a:ea typeface="Calibri" pitchFamily="34" charset="-122"/>
                <a:cs typeface="Calibri" pitchFamily="34" charset="-120"/>
              </a:rPr>
              <a:t>Un système simple, peu coûteux et extensible qui détecte, compte, affiche et commande la barrière.</a:t>
            </a:r>
            <a:endParaRPr lang="en-US" sz="2200" dirty="0"/>
          </a:p>
        </p:txBody>
      </p:sp>
      <p:sp>
        <p:nvSpPr>
          <p:cNvPr id="4" name="Text 2"/>
          <p:cNvSpPr txBox="1"/>
          <p:nvPr/>
        </p:nvSpPr>
        <p:spPr>
          <a:xfrm>
            <a:off x="548640" y="3474720"/>
            <a:ext cx="8046720" cy="54864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Merci de votre attention — questions ?</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Parking intelligent - Soutenance</dc:title>
  <dc:subject>PptxGenJS Presentation</dc:subject>
  <dc:creator>XLab IC</dc:creator>
  <cp:lastModifiedBy>XLab IC</cp:lastModifiedBy>
  <cp:revision>1</cp:revision>
  <dcterms:created xsi:type="dcterms:W3CDTF">2026-10-24T21:38:55Z</dcterms:created>
  <dcterms:modified xsi:type="dcterms:W3CDTF">2026-10-24T21:38:55Z</dcterms:modified>
</cp:coreProperties>
</file>